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spPr>
              <a:solidFill>
                <a:srgbClr val="1F77B4"/>
              </a:solidFill>
            </c:spPr>
          </c:dPt>
          <c:dPt>
            <c:idx val="1"/>
            <c:spPr>
              <a:solidFill>
                <a:srgbClr val="FF7F0E"/>
              </a:solidFill>
            </c:spPr>
          </c:dPt>
          <c:dPt>
            <c:idx val="2"/>
            <c:spPr>
              <a:solidFill>
                <a:srgbClr val="2CA02C"/>
              </a:solidFill>
            </c:spPr>
          </c:dPt>
          <c:dPt>
            <c:idx val="3"/>
            <c:spPr>
              <a:solidFill>
                <a:srgbClr val="D62728"/>
              </a:solidFill>
            </c:spPr>
          </c:dPt>
          <c:cat>
            <c:strRef>
              <c:f>Sheet1!$A$2:$A$5</c:f>
              <c:strCache>
                <c:ptCount val="4"/>
                <c:pt idx="0">
                  <c:v>Influencer posts</c:v>
                </c:pt>
                <c:pt idx="1">
                  <c:v>Brand social posts</c:v>
                </c:pt>
                <c:pt idx="2">
                  <c:v>Feed advertisements</c:v>
                </c:pt>
                <c:pt idx="3">
                  <c:v>Friend recommendations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54</c:v>
                </c:pt>
                <c:pt idx="2">
                  <c:v>49</c:v>
                </c:pt>
                <c:pt idx="3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Percentage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spPr>
              <a:solidFill>
                <a:srgbClr val="1F77B4"/>
              </a:solidFill>
            </c:spPr>
          </c:dPt>
          <c:dPt>
            <c:idx val="1"/>
            <c:spPr>
              <a:solidFill>
                <a:srgbClr val="FF7F0E"/>
              </a:solidFill>
            </c:spPr>
          </c:dPt>
          <c:dPt>
            <c:idx val="2"/>
            <c:spPr>
              <a:solidFill>
                <a:srgbClr val="2CA02C"/>
              </a:solidFill>
            </c:spPr>
          </c:dPt>
          <c:dPt>
            <c:idx val="3"/>
            <c:spPr>
              <a:solidFill>
                <a:srgbClr val="D62728"/>
              </a:solidFill>
            </c:spPr>
          </c:dPt>
          <c:dPt>
            <c:idx val="4"/>
            <c:spPr>
              <a:solidFill>
                <a:srgbClr val="9467BD"/>
              </a:solidFill>
            </c:spPr>
          </c:dPt>
          <c:cat>
            <c:strRef>
              <c:f>Sheet1!$A$2:$A$6</c:f>
              <c:strCache>
                <c:ptCount val="5"/>
                <c:pt idx="0">
                  <c:v>When shopping for clothes, trying them on is essential to me</c:v>
                </c:pt>
                <c:pt idx="1">
                  <c:v>I have a favorite fashion brand that I prefer to buy</c:v>
                </c:pt>
                <c:pt idx="2">
                  <c:v>I often buy fashion items based on the latest trends</c:v>
                </c:pt>
                <c:pt idx="3">
                  <c:v>For me, premium fashion brands are worth the higher price</c:v>
                </c:pt>
                <c:pt idx="4">
                  <c:v>I avoid fashion brands that do not ensure fair labor practices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</c:v>
                </c:pt>
                <c:pt idx="1">
                  <c:v>40</c:v>
                </c:pt>
                <c:pt idx="2">
                  <c:v>32</c:v>
                </c:pt>
                <c:pt idx="3">
                  <c:v>25</c:v>
                </c:pt>
                <c:pt idx="4">
                  <c:v>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Percentage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spPr>
              <a:solidFill>
                <a:srgbClr val="1F77B4"/>
              </a:solidFill>
            </c:spPr>
          </c:dPt>
          <c:dPt>
            <c:idx val="1"/>
            <c:spPr>
              <a:solidFill>
                <a:srgbClr val="FF7F0E"/>
              </a:solidFill>
            </c:spPr>
          </c:dPt>
          <c:dPt>
            <c:idx val="2"/>
            <c:spPr>
              <a:solidFill>
                <a:srgbClr val="2CA02C"/>
              </a:solidFill>
            </c:spPr>
          </c:dPt>
          <c:dPt>
            <c:idx val="3"/>
            <c:spPr>
              <a:solidFill>
                <a:srgbClr val="D62728"/>
              </a:solidFill>
            </c:spPr>
          </c:dPt>
          <c:dPt>
            <c:idx val="4"/>
            <c:spPr>
              <a:solidFill>
                <a:srgbClr val="9467BD"/>
              </a:solidFill>
            </c:spPr>
          </c:dPt>
          <c:dPt>
            <c:idx val="5"/>
            <c:spPr>
              <a:solidFill>
                <a:srgbClr val="8C564B"/>
              </a:solidFill>
            </c:spPr>
          </c:dPt>
          <c:dPt>
            <c:idx val="6"/>
            <c:spPr>
              <a:solidFill>
                <a:srgbClr val="E377C2"/>
              </a:solidFill>
            </c:spPr>
          </c:dPt>
          <c:dPt>
            <c:idx val="7"/>
            <c:spPr>
              <a:solidFill>
                <a:srgbClr val="7F7F7F"/>
              </a:solidFill>
            </c:spPr>
          </c:dPt>
          <c:dPt>
            <c:idx val="8"/>
            <c:spPr>
              <a:solidFill>
                <a:srgbClr val="BCBD22"/>
              </a:solidFill>
            </c:spPr>
          </c:dPt>
          <c:dPt>
            <c:idx val="9"/>
            <c:spPr>
              <a:solidFill>
                <a:srgbClr val="17BECF"/>
              </a:solidFill>
            </c:spPr>
          </c:dPt>
          <c:cat>
            <c:strRef>
              <c:f>Sheet1!$A$2:$A$11</c:f>
              <c:strCache>
                <c:ptCount val="10"/>
                <c:pt idx="0">
                  <c:v>The Ordinary</c:v>
                </c:pt>
                <c:pt idx="1">
                  <c:v>Victoria's Secret</c:v>
                </c:pt>
                <c:pt idx="2">
                  <c:v>Samyang</c:v>
                </c:pt>
                <c:pt idx="3">
                  <c:v>Fenty Beauty</c:v>
                </c:pt>
                <c:pt idx="4">
                  <c:v>Trojan</c:v>
                </c:pt>
                <c:pt idx="5">
                  <c:v>Rare Beauty</c:v>
                </c:pt>
                <c:pt idx="6">
                  <c:v>Morphe</c:v>
                </c:pt>
                <c:pt idx="7">
                  <c:v>Summer Fridays</c:v>
                </c:pt>
                <c:pt idx="8">
                  <c:v>Lush</c:v>
                </c:pt>
                <c:pt idx="9">
                  <c:v>Panoxyl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</c:v>
                </c:pt>
                <c:pt idx="1">
                  <c:v>19</c:v>
                </c:pt>
                <c:pt idx="2">
                  <c:v>19</c:v>
                </c:pt>
                <c:pt idx="3">
                  <c:v>12</c:v>
                </c:pt>
                <c:pt idx="4">
                  <c:v>12</c:v>
                </c:pt>
                <c:pt idx="5">
                  <c:v>11</c:v>
                </c:pt>
                <c:pt idx="6">
                  <c:v>11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Percentage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Gen Z Purchase Behavior: Key Insights from Statista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Prepared from Statista AI Chat Data — United States,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Digital Impulses &amp; Purchase Influence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/>
            </a:pPr>
            <a:r>
              <a:t>Digital channels are the primary drivers of Gen Z purchase decisions.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Source: Actions influencing Gen Zers' purchase decisions in the United States in 2025 — GoDaddy, October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Fashion &amp;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/>
            </a:pPr>
            <a:r>
              <a:t>Physical product experience and personal preference are critical in fashion purchasing.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Source: Gen Z attitudes toward fashion in the United States in 2025 — Statista Consumer Insights, December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Brand Preferences &amp; Beauty Dominance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/>
            </a:pPr>
            <a:r>
              <a:t>Beauty brands dominate Gen Z brand preferences, with skincare leading the category.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Source: Most popular brands among Generation Z in the United States in 2025 — Numerator, August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Summary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• Regarding the purchasing behavior of Gen Z, the available Statista data presents the following picture:.</a:t>
            </a:r>
          </a:p>
          <a:p>
            <a:pPr>
              <a:spcAft>
                <a:spcPts val="1000"/>
              </a:spcAft>
              <a:defRPr sz="1400"/>
            </a:pPr>
            <a:r>
              <a:t>• Digital impulses have a particularly strong influence on purchasing decisions: Influencer posts influenced 57% of Gen Z in the USA in 2025, and posts from brands they already follow motivated 54% to purchase a product or service.</a:t>
            </a:r>
          </a:p>
          <a:p>
            <a:pPr>
              <a:spcAft>
                <a:spcPts val="1000"/>
              </a:spcAft>
              <a:defRPr sz="1400"/>
            </a:pPr>
            <a:r>
              <a:t>• In the fashion context, product experience also plays an important role: 51% of Gen Z in the USA stated in 2025 that trying on clothing before purchase is essential.</a:t>
            </a:r>
          </a:p>
          <a:p>
            <a:pPr>
              <a:spcAft>
                <a:spcPts val="1000"/>
              </a:spcAft>
              <a:defRPr sz="1400"/>
            </a:pPr>
            <a:r>
              <a:t>• When it comes to brands, the available data shows a strong beauty orientation: in 2025, The Ordinary was the most popular brand among Gen Z in the USA, and beauty brands dominated the brands that are disproportionately popular with Gen Z.</a:t>
            </a:r>
          </a:p>
          <a:p>
            <a:pPr>
              <a:spcAft>
                <a:spcPts val="1000"/>
              </a:spcAft>
              <a:defRPr sz="1400"/>
            </a:pPr>
            <a:r>
              <a:t>• At the same time, there is evidence of brand loyalty: two out of five Gen Z consumers in the USA stated in 2025 that they have a favorite brand they shop from.</a:t>
            </a:r>
          </a:p>
          <a:p>
            <a:pPr>
              <a:spcAft>
                <a:spcPts val="1000"/>
              </a:spcAft>
              <a:defRPr sz="1400"/>
            </a:pPr>
            <a:r>
              <a:t>• For context: The Statista data used here refers to the USA.</a:t>
            </a:r>
          </a:p>
          <a:p>
            <a:pPr>
              <a:spcAft>
                <a:spcPts val="1000"/>
              </a:spcAft>
              <a:defRPr sz="1400"/>
            </a:pPr>
            <a:r>
              <a:t>• It is also noteworthy that there is a time discrepancy in one source: the source was published on October 17, 2024, but refers to a value for 2025.</a:t>
            </a:r>
          </a:p>
          <a:p>
            <a:pPr>
              <a:spcAft>
                <a:spcPts val="1000"/>
              </a:spcAft>
              <a:defRPr sz="1400"/>
            </a:pPr>
            <a:r>
              <a:t>• Based on general knowledge (not from Statista data): such statements should be interpreted more as forward-looking.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Note: One source shows a time discrepancy: published on October 17, 2024, but references 2025 data. Such forward-looking statements should be interpreted as projections rather than confirmed historical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